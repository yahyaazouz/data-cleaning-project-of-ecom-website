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Modes de paiement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2E-47B2-88B8-3F0736ADB390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2E-47B2-88B8-3F0736ADB390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2E-47B2-88B8-3F0736ADB390}"/>
              </c:ext>
            </c:extLst>
          </c:dPt>
          <c:dPt>
            <c:idx val="3"/>
            <c:bubble3D val="0"/>
            <c:spPr>
              <a:solidFill>
                <a:srgbClr val="1F386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2E-47B2-88B8-3F0736ADB39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2E-47B2-88B8-3F0736ADB39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2E-47B2-88B8-3F0736ADB39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2E-47B2-88B8-3F0736ADB39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2E-47B2-88B8-3F0736ADB39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73.78</c:v>
                </c:pt>
                <c:pt idx="1">
                  <c:v>19.420000000000002</c:v>
                </c:pt>
                <c:pt idx="2">
                  <c:v>5.36</c:v>
                </c:pt>
                <c:pt idx="3">
                  <c:v>1.44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2E-47B2-88B8-3F0736ADB3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 réel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1264672</c:v>
                </c:pt>
                <c:pt idx="1">
                  <c:v>1298094</c:v>
                </c:pt>
                <c:pt idx="2">
                  <c:v>1591611</c:v>
                </c:pt>
                <c:pt idx="3">
                  <c:v>1596645</c:v>
                </c:pt>
                <c:pt idx="4">
                  <c:v>1780186</c:v>
                </c:pt>
                <c:pt idx="5">
                  <c:v>1517181</c:v>
                </c:pt>
                <c:pt idx="6">
                  <c:v>1645221</c:v>
                </c:pt>
                <c:pt idx="7">
                  <c:v>1671085</c:v>
                </c:pt>
                <c:pt idx="8">
                  <c:v>797939</c:v>
                </c:pt>
                <c:pt idx="9">
                  <c:v>855463</c:v>
                </c:pt>
                <c:pt idx="10">
                  <c:v>1215383</c:v>
                </c:pt>
                <c:pt idx="11">
                  <c:v>843622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EB-4118-94F7-63D3B58C3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Prévu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M13</c:v>
                </c:pt>
                <c:pt idx="1">
                  <c:v>M14</c:v>
                </c:pt>
                <c:pt idx="2">
                  <c:v>M15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961706</c:v>
                </c:pt>
                <c:pt idx="1">
                  <c:v>894719</c:v>
                </c:pt>
                <c:pt idx="2">
                  <c:v>827732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EB-4118-94F7-63D3B58C3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69A-496C-9B5C-AAA056EEF0B6}"/>
              </c:ext>
            </c:extLst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9A-496C-9B5C-AAA056EEF0B6}"/>
              </c:ext>
            </c:extLst>
          </c:dPt>
          <c:cat>
            <c:strRef>
              <c:f>Sheet1!$A$2:$A$3</c:f>
              <c:strCache>
                <c:ptCount val="2"/>
                <c:pt idx="0">
                  <c:v>Clients actifs (&lt; 180j)</c:v>
                </c:pt>
                <c:pt idx="1">
                  <c:v>Clients churned (&gt; 180j)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38.799999999999997</c:v>
                </c:pt>
                <c:pt idx="1">
                  <c:v>61.2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69A-496C-9B5C-AAA056EEF0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37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Ventes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Entreprise E-Commerce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Olist Brazilian E-Commerce  |  117 601 commandes  |  2016 – 2018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3756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Azouz Yahya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Mezui Guy</a:t>
            </a:r>
            <a:endParaRPr lang="en-US" sz="1300" b="1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MIAGE Casa  |  Filière : Data Analysis  |  2025-2026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"/>
            <a:ext cx="3200400" cy="32004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7132320" y="1371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5C9F10-C987-9BDB-50BA-BB73C3FEC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20193"/>
            <a:ext cx="800100" cy="6381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64A874-AB45-09A7-A880-0AA2A593B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025" y="4438650"/>
            <a:ext cx="942975" cy="704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9436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94360" cy="7132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51560" y="21031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 de données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594360" cy="7132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1560" y="3017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59436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9319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594360" cy="7132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11887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1031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594360" cy="71323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4754880" y="21031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21031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30175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594360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0175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Insights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3931920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4" name="Shape 32"/>
          <p:cNvSpPr/>
          <p:nvPr/>
        </p:nvSpPr>
        <p:spPr>
          <a:xfrm>
            <a:off x="4754880" y="3931920"/>
            <a:ext cx="594360" cy="71323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5" name="Text 33"/>
          <p:cNvSpPr/>
          <p:nvPr/>
        </p:nvSpPr>
        <p:spPr>
          <a:xfrm>
            <a:off x="4754880" y="393192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440680" y="39319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e-commerce génère des volumes massifs de données transactionnelles chaque jour. Sans analyse rigoureuse, ces données restent inexploitées et les décisions sont prises sur l'intuition plutôt que sur des faits.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64008" cy="35661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exploiter les données e-commerce pour 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749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produits les plus rentables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comportement des clients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les ventes futures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clients à risque de churn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: Construire une solution complète d'analyse et de prédiction pour l'entreprise e-commerce Olist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Source de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by Olist — Kaggle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202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7373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117 601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56232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192024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2542032" y="1280160"/>
            <a:ext cx="17373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2016–2018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42032" y="1856232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192024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4718304" y="1280160"/>
            <a:ext cx="17373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fichiers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18304" y="1856232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6803136" y="1143000"/>
            <a:ext cx="1920240" cy="6400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6894576" y="1280160"/>
            <a:ext cx="17373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colonnes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94576" y="1856232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fusionné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514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CSV utilisés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8595360" cy="20116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olist_orders_dataset.csv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99 441 commandes : statut, dates achat/livraison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olist_order_items_dataset.csv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 commandés, prix unitaire, frais livraison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olist_customers_dataset.csv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Ville, état et code postal des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olist_order_payments_dataset.csv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 de paiement et montants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olist_products_dataset.csv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Catégories et caractéristiques des produits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Python / Pandas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206240" cy="14630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697480"/>
            <a:ext cx="420624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54880" y="11430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Shape 4"/>
          <p:cNvSpPr/>
          <p:nvPr/>
        </p:nvSpPr>
        <p:spPr>
          <a:xfrm>
            <a:off x="4754880" y="114300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5"/>
          <p:cNvSpPr/>
          <p:nvPr/>
        </p:nvSpPr>
        <p:spPr>
          <a:xfrm>
            <a:off x="493776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doublons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937760" y="1490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sur les 4 tables principales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9659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8"/>
          <p:cNvSpPr/>
          <p:nvPr/>
        </p:nvSpPr>
        <p:spPr>
          <a:xfrm>
            <a:off x="4754880" y="196596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9"/>
          <p:cNvSpPr/>
          <p:nvPr/>
        </p:nvSpPr>
        <p:spPr>
          <a:xfrm>
            <a:off x="4937760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2313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dropna(subset=['price']) — lignes sans prix supprimées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78892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2"/>
          <p:cNvSpPr/>
          <p:nvPr/>
        </p:nvSpPr>
        <p:spPr>
          <a:xfrm>
            <a:off x="4754880" y="278892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3"/>
          <p:cNvSpPr/>
          <p:nvPr/>
        </p:nvSpPr>
        <p:spPr>
          <a:xfrm>
            <a:off x="4937760" y="2834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des dates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37760" y="31363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pour les 3 colonnes temporelles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361188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4754880" y="361188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7"/>
          <p:cNvSpPr/>
          <p:nvPr/>
        </p:nvSpPr>
        <p:spPr>
          <a:xfrm>
            <a:off x="4937760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anomalies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937760" y="3959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items[price &gt; 0] et items[freight_value &gt;= 0]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44348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4" name="Shape 20"/>
          <p:cNvSpPr/>
          <p:nvPr/>
        </p:nvSpPr>
        <p:spPr>
          <a:xfrm>
            <a:off x="4754880" y="443484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1"/>
          <p:cNvSpPr/>
          <p:nvPr/>
        </p:nvSpPr>
        <p:spPr>
          <a:xfrm>
            <a:off x="4937760" y="4480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tables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37760" y="4782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CSV fusionnés → 117 601 lignes × 30 colonnes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Power BI DAX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Variables créées en 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order_item_id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20824"/>
            <a:ext cx="4114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365760" y="20208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0208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× 0.20 (marge 20%)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41448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365760" y="2441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2441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date_livraison − date_achat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62072"/>
            <a:ext cx="4114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365760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2862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depuis dernier achat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365760" y="32826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2826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 commandes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4114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total dépensé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41148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365760" y="4123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41239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'Loyal' si freq&gt;1, 'New' sinon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544568"/>
            <a:ext cx="411480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9" name="Text 27"/>
          <p:cNvSpPr/>
          <p:nvPr/>
        </p:nvSpPr>
        <p:spPr>
          <a:xfrm>
            <a:off x="365760" y="4544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5445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 recency&gt;180 jours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143000"/>
            <a:ext cx="4114800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4754880" y="1143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Colonnes DAX dans Power BI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160020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4" name="Text 32"/>
          <p:cNvSpPr/>
          <p:nvPr/>
        </p:nvSpPr>
        <p:spPr>
          <a:xfrm>
            <a:off x="4846320" y="16002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ecommerce_clean[price] * [order_item_id]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103120"/>
            <a:ext cx="41148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5"/>
          <p:cNvSpPr/>
          <p:nvPr/>
        </p:nvSpPr>
        <p:spPr>
          <a:xfrm>
            <a:off x="4846320" y="2103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21031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ecommerce_clean[Revenue] * 0.20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60604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0" name="Text 38"/>
          <p:cNvSpPr/>
          <p:nvPr/>
        </p:nvSpPr>
        <p:spPr>
          <a:xfrm>
            <a:off x="4846320" y="26060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26060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DATEDIFF(achat, livraison, DAY)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108960"/>
            <a:ext cx="41148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3" name="Text 41"/>
          <p:cNvSpPr/>
          <p:nvPr/>
        </p:nvSpPr>
        <p:spPr>
          <a:xfrm>
            <a:off x="484632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09360" y="31089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MONTH(order_purchase_timestamp)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3611880"/>
            <a:ext cx="41148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6" name="Text 44"/>
          <p:cNvSpPr/>
          <p:nvPr/>
        </p:nvSpPr>
        <p:spPr>
          <a:xfrm>
            <a:off x="4846320" y="36118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09360" y="36118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YEAR(order_purchase_timestamp)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114800"/>
            <a:ext cx="41148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9" name="Text 47"/>
          <p:cNvSpPr/>
          <p:nvPr/>
        </p:nvSpPr>
        <p:spPr>
          <a:xfrm>
            <a:off x="4846320" y="41148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Weekday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09360" y="41148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FORMAT(timestamp, "DDDD")</a:t>
            </a:r>
            <a:endParaRPr lang="en-US" sz="1000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617720"/>
            <a:ext cx="4114800" cy="9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Client — Analyse RFM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· Frequency · Monetary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3891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114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Python — Cell 5 : Création RFM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937760" y="11430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8" name="Shape 5"/>
          <p:cNvSpPr/>
          <p:nvPr/>
        </p:nvSpPr>
        <p:spPr>
          <a:xfrm>
            <a:off x="4937760" y="1143000"/>
            <a:ext cx="64008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512064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Recency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depuis le dernier achat. Faible = client actif.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37760" y="21031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4937760" y="2103120"/>
            <a:ext cx="64008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0"/>
          <p:cNvSpPr/>
          <p:nvPr/>
        </p:nvSpPr>
        <p:spPr>
          <a:xfrm>
            <a:off x="51206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Frequency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120640" y="2514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 commandes. Élevé = client fidèle.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3"/>
          <p:cNvSpPr/>
          <p:nvPr/>
        </p:nvSpPr>
        <p:spPr>
          <a:xfrm>
            <a:off x="4937760" y="306324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4"/>
          <p:cNvSpPr/>
          <p:nvPr/>
        </p:nvSpPr>
        <p:spPr>
          <a:xfrm>
            <a:off x="5120640" y="3136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Monetary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120640" y="3474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total dépensé. Élevé = client à forte valeur.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937760" y="4069080"/>
            <a:ext cx="393192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7"/>
          <p:cNvSpPr/>
          <p:nvPr/>
        </p:nvSpPr>
        <p:spPr>
          <a:xfrm>
            <a:off x="5029200" y="40690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RFM :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4526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86 202  Nouveaux clients  (achat unique)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12 463  Clients fidèles  (achats multiples)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61,2%  Taux de churn estimé (recency &gt; 180j)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complète du tableau de bord interactif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0"/>
            <a:ext cx="868680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: Dashboard Power BI — 4 KPIs + 6 Visualisations + Slicer Année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Principaux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 de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783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2377440" y="1188720"/>
            <a:ext cx="196596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1783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117 601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0665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commandes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4480560" y="1188720"/>
            <a:ext cx="196596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4572000" y="1325880"/>
            <a:ext cx="178308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136.71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206654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188720"/>
            <a:ext cx="2331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6537960" y="1188720"/>
            <a:ext cx="2331720" cy="6400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6629400" y="1325880"/>
            <a:ext cx="214884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12.42j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29400" y="2066544"/>
            <a:ext cx="2148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livraison moyen</a:t>
            </a:r>
            <a:endParaRPr lang="en-US" sz="11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34640"/>
            <a:ext cx="5029200" cy="2103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486400" y="2834640"/>
            <a:ext cx="3383280" cy="3840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0"/>
          <p:cNvSpPr/>
          <p:nvPr/>
        </p:nvSpPr>
        <p:spPr>
          <a:xfrm>
            <a:off x="5577840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clés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0" y="3291840"/>
            <a:ext cx="338328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97.82% des commandes livrées avec succès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Beauté &amp; Santé = catégorie N°1 en revenu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73.78% des paiements par carte de crédit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des ventes le lundi, creux le samedi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486400" y="3977640"/>
          <a:ext cx="3383280" cy="109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Prévision des Ventes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— Scikit-learn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572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474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Python — Régression Linéaire (Cell 7)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749040"/>
            <a:ext cx="4572000" cy="1234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: Revenu réel (bleu) vs Prédit (rouge pointillé)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120640" y="1143000"/>
            <a:ext cx="374904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6"/>
          <p:cNvSpPr/>
          <p:nvPr/>
        </p:nvSpPr>
        <p:spPr>
          <a:xfrm>
            <a:off x="521208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des Prévisions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20640" y="1645920"/>
            <a:ext cx="3749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8"/>
          <p:cNvSpPr/>
          <p:nvPr/>
        </p:nvSpPr>
        <p:spPr>
          <a:xfrm>
            <a:off x="5120640" y="1645920"/>
            <a:ext cx="37490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9"/>
          <p:cNvSpPr/>
          <p:nvPr/>
        </p:nvSpPr>
        <p:spPr>
          <a:xfrm>
            <a:off x="5212080" y="1783080"/>
            <a:ext cx="356616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961 706,48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212080" y="2128723"/>
            <a:ext cx="3566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20640" y="2606040"/>
            <a:ext cx="3749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2"/>
          <p:cNvSpPr/>
          <p:nvPr/>
        </p:nvSpPr>
        <p:spPr>
          <a:xfrm>
            <a:off x="5120640" y="2606040"/>
            <a:ext cx="374904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3"/>
          <p:cNvSpPr/>
          <p:nvPr/>
        </p:nvSpPr>
        <p:spPr>
          <a:xfrm>
            <a:off x="5212080" y="2743200"/>
            <a:ext cx="356616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894 719,18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212080" y="3088843"/>
            <a:ext cx="3566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14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20640" y="3566160"/>
            <a:ext cx="374904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5120640" y="3566160"/>
            <a:ext cx="374904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7"/>
          <p:cNvSpPr/>
          <p:nvPr/>
        </p:nvSpPr>
        <p:spPr>
          <a:xfrm>
            <a:off x="5212080" y="3703320"/>
            <a:ext cx="3566160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827 731,87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5212080" y="4048963"/>
            <a:ext cx="35661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15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120640" y="4572000"/>
            <a:ext cx="37490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0"/>
          <p:cNvSpPr/>
          <p:nvPr/>
        </p:nvSpPr>
        <p:spPr>
          <a:xfrm>
            <a:off x="5212080" y="4590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Tendance décroissante : reflète la baisse observée sur les mois 9–12 du dataset.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74320" y="1143000"/>
          <a:ext cx="9144" cy="9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Prédiction du Churn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— Scikit-learn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457200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Random Forest — Accuracy : 100% (Cell 9)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4572000" cy="1325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983480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: Recency = facteur dominant (importance score = 1.0)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120640" y="1143000"/>
            <a:ext cx="3749040" cy="38404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6"/>
          <p:cNvSpPr/>
          <p:nvPr/>
        </p:nvSpPr>
        <p:spPr>
          <a:xfrm>
            <a:off x="521208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du Modèle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120640" y="1627632"/>
            <a:ext cx="37490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8"/>
          <p:cNvSpPr/>
          <p:nvPr/>
        </p:nvSpPr>
        <p:spPr>
          <a:xfrm>
            <a:off x="5120640" y="1627632"/>
            <a:ext cx="37490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9"/>
          <p:cNvSpPr/>
          <p:nvPr/>
        </p:nvSpPr>
        <p:spPr>
          <a:xfrm>
            <a:off x="5212080" y="1764792"/>
            <a:ext cx="3566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212080" y="2022653"/>
            <a:ext cx="3566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120640" y="2386584"/>
            <a:ext cx="37490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2"/>
          <p:cNvSpPr/>
          <p:nvPr/>
        </p:nvSpPr>
        <p:spPr>
          <a:xfrm>
            <a:off x="5120640" y="2386584"/>
            <a:ext cx="3749040" cy="6400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3"/>
          <p:cNvSpPr/>
          <p:nvPr/>
        </p:nvSpPr>
        <p:spPr>
          <a:xfrm>
            <a:off x="5212080" y="2523744"/>
            <a:ext cx="3566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212080" y="2781605"/>
            <a:ext cx="3566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120640" y="3145536"/>
            <a:ext cx="37490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0" name="Shape 16"/>
          <p:cNvSpPr/>
          <p:nvPr/>
        </p:nvSpPr>
        <p:spPr>
          <a:xfrm>
            <a:off x="5120640" y="3145536"/>
            <a:ext cx="3749040" cy="640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7"/>
          <p:cNvSpPr/>
          <p:nvPr/>
        </p:nvSpPr>
        <p:spPr>
          <a:xfrm>
            <a:off x="5212080" y="3282696"/>
            <a:ext cx="3566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800" dirty="0"/>
          </a:p>
        </p:txBody>
      </p:sp>
      <p:sp>
        <p:nvSpPr>
          <p:cNvPr id="22" name="Text 18"/>
          <p:cNvSpPr/>
          <p:nvPr/>
        </p:nvSpPr>
        <p:spPr>
          <a:xfrm>
            <a:off x="5212080" y="3540557"/>
            <a:ext cx="3566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120640" y="3904488"/>
            <a:ext cx="374904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4" name="Shape 20"/>
          <p:cNvSpPr/>
          <p:nvPr/>
        </p:nvSpPr>
        <p:spPr>
          <a:xfrm>
            <a:off x="5120640" y="3904488"/>
            <a:ext cx="374904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Text 21"/>
          <p:cNvSpPr/>
          <p:nvPr/>
        </p:nvSpPr>
        <p:spPr>
          <a:xfrm>
            <a:off x="5212080" y="4041648"/>
            <a:ext cx="356616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800" dirty="0"/>
          </a:p>
        </p:txBody>
      </p:sp>
      <p:sp>
        <p:nvSpPr>
          <p:cNvPr id="26" name="Text 22"/>
          <p:cNvSpPr/>
          <p:nvPr/>
        </p:nvSpPr>
        <p:spPr>
          <a:xfrm>
            <a:off x="5212080" y="4299509"/>
            <a:ext cx="3566160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5120640" y="4663440"/>
          <a:ext cx="3749040" cy="9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 23"/>
          <p:cNvSpPr/>
          <p:nvPr/>
        </p:nvSpPr>
        <p:spPr>
          <a:xfrm>
            <a:off x="5120640" y="4663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churn : </a:t>
            </a: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61,2%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 clients inactifs depuis &gt; 180 jours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120640" y="47365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Recency est le seul facteur déterminant pour prédire le churn.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Insights Clés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données nous révèlent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64008" cy="1143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Revenu total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16,08M sur 117 601 commandes — pic en mai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64008" cy="1143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892040" y="1216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catégorie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6184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Beauté &amp; Santé — catégorie la plus rentable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4" name="Shape 12"/>
          <p:cNvSpPr/>
          <p:nvPr/>
        </p:nvSpPr>
        <p:spPr>
          <a:xfrm>
            <a:off x="274320" y="2423160"/>
            <a:ext cx="64008" cy="11430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457200" y="2496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Mode de paiement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98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73,78% carte de crédit — optimiser l'expérience paiement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4231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6"/>
          <p:cNvSpPr/>
          <p:nvPr/>
        </p:nvSpPr>
        <p:spPr>
          <a:xfrm>
            <a:off x="4709160" y="2423160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Text 17"/>
          <p:cNvSpPr/>
          <p:nvPr/>
        </p:nvSpPr>
        <p:spPr>
          <a:xfrm>
            <a:off x="4892040" y="2496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Logistique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2898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97,82% de livraisons réussies — délai moyen 12,42 jours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64008" cy="1143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Text 21"/>
          <p:cNvSpPr/>
          <p:nvPr/>
        </p:nvSpPr>
        <p:spPr>
          <a:xfrm>
            <a:off x="457200" y="3776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Fidélisation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178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86 202 nouveaux clients vs 12 463 fidèles → actions nécessaires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7033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64008" cy="11430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4892040" y="3776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Churn élevé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178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61,2% de clients inactifs → relancer avant 180 jours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du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658368" cy="8046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27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— traitement et modélisation des 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658368" cy="80467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4709160" y="114300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58968" y="11978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527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Chargement, nettoyage, fusion et transformation des données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658368" cy="8046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274320" y="210312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mathématiques et opérations statistiques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10312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4709160" y="2103120"/>
            <a:ext cx="658368" cy="8046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4709160" y="210312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58968" y="21579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des graphiques de prévision et de churn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658368" cy="8046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274320" y="306324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24128" y="3118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24128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+ RandomForestClassifier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1" name="Shape 29"/>
          <p:cNvSpPr/>
          <p:nvPr/>
        </p:nvSpPr>
        <p:spPr>
          <a:xfrm>
            <a:off x="4709160" y="3063240"/>
            <a:ext cx="658368" cy="8046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4709160" y="306324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58968" y="31181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3447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interactif avec mesures DAX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02336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658368" cy="80467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7" name="Text 35"/>
          <p:cNvSpPr/>
          <p:nvPr/>
        </p:nvSpPr>
        <p:spPr>
          <a:xfrm>
            <a:off x="274320" y="402336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24128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24128" y="4407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calculées : Revenue, Profit, Delivery Days...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4023360"/>
            <a:ext cx="41148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41" name="Shape 39"/>
          <p:cNvSpPr/>
          <p:nvPr/>
        </p:nvSpPr>
        <p:spPr>
          <a:xfrm>
            <a:off x="4709160" y="4023360"/>
            <a:ext cx="658368" cy="8046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2" name="Text 40"/>
          <p:cNvSpPr/>
          <p:nvPr/>
        </p:nvSpPr>
        <p:spPr>
          <a:xfrm>
            <a:off x="4709160" y="4023360"/>
            <a:ext cx="6583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458968" y="40782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58968" y="4407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Data Science structurée en 6 phases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Objectifs atteints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411480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complet (117 601 lignes)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Python + DAX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interactif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 ventes (Régression Linéaire)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churn (Random Forest 100%)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Perspectives d'amélioration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44752"/>
            <a:ext cx="4114800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avancés : Prophet, LSTM, XGBoost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 temps réel (Apache Kafka)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recommandation de produits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API Flask / Azure Cloud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 fraude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412480" cy="65836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Data Science appliquée à l'e-commerce transforme les données en avantage compétitif réel.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2D45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3337560"/>
            <a:ext cx="36576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Azouz Yahya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Encadré par 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Mezui Guy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MIAGE Casa  |  Filière Data Analysis  |  2025-2026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1077</Words>
  <Application>Microsoft Office PowerPoint</Application>
  <PresentationFormat>On-screen Show (16:9)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Ventes E-Commerce — Olist</dc:title>
  <dc:subject>PptxGenJS Presentation</dc:subject>
  <dc:creator>PptxGenJS</dc:creator>
  <cp:lastModifiedBy>Yahya azouz</cp:lastModifiedBy>
  <cp:revision>5</cp:revision>
  <dcterms:created xsi:type="dcterms:W3CDTF">2026-05-14T10:15:57Z</dcterms:created>
  <dcterms:modified xsi:type="dcterms:W3CDTF">2026-05-14T16:48:06Z</dcterms:modified>
</cp:coreProperties>
</file>